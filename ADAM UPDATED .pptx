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5677" autoAdjust="0"/>
  </p:normalViewPr>
  <p:slideViewPr>
    <p:cSldViewPr snapToGrid="0">
      <p:cViewPr>
        <p:scale>
          <a:sx n="94" d="100"/>
          <a:sy n="94" d="100"/>
        </p:scale>
        <p:origin x="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FE4335-5301-4679-A719-AF09BD1A6B3D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17F23-5BD9-43C1-9815-CDF2EC6883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80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17F23-5BD9-43C1-9815-CDF2EC68839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657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17F23-5BD9-43C1-9815-CDF2EC68839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423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B8C93-EFA4-97D6-A195-EC0F8BBF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71CB6-4E9C-97B2-C903-B28E1D30A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55315-E52D-391B-7FC4-9D8C731C0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16C1D-0B5E-2C45-FC44-0D6806E92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717F23-5BD9-43C1-9815-CDF2EC68839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04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5BA33-CD64-435D-2097-EA5E7F5CF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E09D1-1436-6CE3-F9C3-641402F56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25776-EE58-84B9-B70B-BC708517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87072-C5FD-2DC3-E4B9-629B26EC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BD68-4BB9-9B1C-289F-F24C6598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4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6190-E618-309A-E957-B3101D7D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36352-6996-B4A6-1902-03726263D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42B1C-D2F4-AF73-4933-8AED9B61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22CFA-47BE-6F65-C733-DE69C9B0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1E9F2-2FF0-B17D-2E3D-0B4B1F36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6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535F1-271F-589F-A642-8B1C1C5D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D8A6E-D211-4839-1BD1-DDC0D3DA6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C62C2-E567-9A07-FE6D-AFE9ADA6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2592-3205-CF37-8D56-B26E8F4A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01EED-E738-759A-539B-3BD12327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474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7629-3AEF-5DD5-66A8-D9F11C1C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9ACD8-B493-B6EB-911D-7377D03A6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3AD4C-010F-C940-2650-A43BA2B6A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163815-1164-4692-534B-9A1A701C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EB7AF-EEE7-CC9B-2C36-E5F3E010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5677C-BDCF-6995-A6EF-7F593B41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59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C740-1A32-5EF1-6DE2-3AA3A37E9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1FAFB-514D-5F89-3F18-D4DAC842B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01AA4-9B63-4DE7-D268-6E8B4641A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8C6A84-3407-C348-517A-28B4BD247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6951B-3A21-CA95-4EA6-159D759AC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C8845C-1183-68B9-5EB1-792E5DC6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3D7E7F-AAA0-F50D-0ED2-71822B03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C9D5C-E149-FFA1-CDD4-4CE8D224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90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3B02-3DEC-A051-0A5D-F9CD12B2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F9E94-C1E5-3920-2081-32EF19D5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D1927-EFA6-39AC-700D-B61EBAF4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80631-FD46-0EBE-5F8A-46B7490D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29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BD9D9-943F-9E97-3ED7-BEDC2712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15B12-E068-41F1-C432-CF8B1635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AA46B-18C7-F6B8-173A-BF65D40B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07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E247-16D1-F870-BBE9-E2F4B5F5F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4216-9183-ADBF-4BD4-0EDFEF525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C41C50-A91E-B483-121B-8DAD59254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E5DE7-04F2-BE03-B6EA-7376DCB7E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9AA1E-9761-8FAE-B748-E9C5A123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1EEB4-00E2-EBE2-CB0C-F028AF46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56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4A9AE-C994-28CC-0C28-40E0D34A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7632C-E9AA-6A79-B3B4-CAAA03F2A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81138-0F93-6C27-70B1-E5DDC74E4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6A85D-C079-412A-78F3-CC96ACEC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6DECC-EF0A-A8CD-52EF-B7A71B0D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39BCF-E0AE-CF5B-D296-61D872EA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216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5FC3-91FD-FF11-FAAE-5C1FAF3F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DBE0A-828A-CF4F-C2B8-8D65D0B0D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CC063-DBBA-0309-F420-C2C087E7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69685-475B-561B-CEAF-DBE916CE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A0855-3463-D828-A460-5DA121C32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96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43CF3-1CFF-2639-4B5D-5FF7D7FEC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3B845-9E38-FDA6-9A29-549B00BFF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76B06-3F1F-9447-3541-B127CA6E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5554-4066-FADB-8C8C-0A9D710F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D76DC-86E9-94AA-46E7-971045BE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02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010EE-0E05-C981-2903-889D845C8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9F170-9213-A197-B0C9-26D0DB007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65535-53D1-ED75-6023-102D01D79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02233-3CE7-4723-9210-BCACD1E63745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BF268-66ED-9F52-5D62-2B7C43CF4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63DBB-91C7-9CA9-B66A-2CFA91B21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74A7C-2001-469C-A8FE-3A676DA323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8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2044E-BAF2-2C7B-987A-8F8763643994}"/>
              </a:ext>
            </a:extLst>
          </p:cNvPr>
          <p:cNvSpPr txBox="1"/>
          <p:nvPr/>
        </p:nvSpPr>
        <p:spPr>
          <a:xfrm>
            <a:off x="830511" y="2591738"/>
            <a:ext cx="108972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Driving Growth Through Sam </a:t>
            </a:r>
          </a:p>
          <a:p>
            <a:pPr algn="ctr"/>
            <a:r>
              <a:rPr lang="en-GB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Adams Variety Packs</a:t>
            </a:r>
          </a:p>
        </p:txBody>
      </p:sp>
    </p:spTree>
    <p:extLst>
      <p:ext uri="{BB962C8B-B14F-4D97-AF65-F5344CB8AC3E}">
        <p14:creationId xmlns:p14="http://schemas.microsoft.com/office/powerpoint/2010/main" val="1109406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6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D652-F06D-7AC7-2ECD-4486A2D2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791" y="365125"/>
            <a:ext cx="10928009" cy="723779"/>
          </a:xfrm>
        </p:spPr>
        <p:txBody>
          <a:bodyPr>
            <a:normAutofit/>
          </a:bodyPr>
          <a:lstStyle/>
          <a:p>
            <a:r>
              <a:rPr lang="en-GB" sz="2800" b="1" dirty="0"/>
              <a:t>Market Performance &amp; Trial </a:t>
            </a:r>
            <a:r>
              <a:rPr lang="en-GB" sz="2800" b="1" dirty="0" err="1"/>
              <a:t>Behavior</a:t>
            </a:r>
            <a:r>
              <a:rPr lang="en-GB" sz="2800" b="1" dirty="0"/>
              <a:t> (Sam Adams vs Competitors)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94F45E-76B7-22EE-0432-E7DE61CA73D3}"/>
              </a:ext>
            </a:extLst>
          </p:cNvPr>
          <p:cNvCxnSpPr>
            <a:cxnSpLocks/>
          </p:cNvCxnSpPr>
          <p:nvPr/>
        </p:nvCxnSpPr>
        <p:spPr>
          <a:xfrm flipH="1">
            <a:off x="6712857" y="1186626"/>
            <a:ext cx="86025" cy="56713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D434F97-DABB-DF39-A0EA-330E9F188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88" y="1186626"/>
            <a:ext cx="6356426" cy="10819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1D96CE6-B50B-1523-BFA5-B0DC64B28AE0}"/>
              </a:ext>
            </a:extLst>
          </p:cNvPr>
          <p:cNvSpPr txBox="1"/>
          <p:nvPr/>
        </p:nvSpPr>
        <p:spPr>
          <a:xfrm>
            <a:off x="7000036" y="2673960"/>
            <a:ext cx="4982029" cy="54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tabLst>
                <a:tab pos="457200" algn="l"/>
              </a:tabLst>
            </a:pPr>
            <a:br>
              <a:rPr lang="en-GB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93CB2E-4C6E-82C5-23AC-63831C7D4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607" y="2366273"/>
            <a:ext cx="3167106" cy="33051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80DFC7-0734-4967-58E3-32650B03D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29" y="2366272"/>
            <a:ext cx="3167106" cy="32903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C1025B-296B-A4D2-F67C-6386F3D54DB6}"/>
              </a:ext>
            </a:extLst>
          </p:cNvPr>
          <p:cNvSpPr txBox="1"/>
          <p:nvPr/>
        </p:nvSpPr>
        <p:spPr>
          <a:xfrm>
            <a:off x="116895" y="5671374"/>
            <a:ext cx="4837408" cy="1234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tabLst>
                <a:tab pos="457200" algn="l"/>
              </a:tabLst>
            </a:pPr>
            <a:r>
              <a:rPr lang="en-GB" sz="1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 Adams Variety Packs to Competitor Variety Pack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Percentage of Adams Variety Packs is 35.76 % 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sz="1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 Percentage of the Competitive Variety Pack is  64.24%</a:t>
            </a:r>
          </a:p>
          <a:p>
            <a:pPr lvl="0">
              <a:lnSpc>
                <a:spcPct val="107000"/>
              </a:lnSpc>
              <a:tabLst>
                <a:tab pos="457200" algn="l"/>
              </a:tabLst>
            </a:pPr>
            <a:endParaRPr lang="en-GB" sz="1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6C1AEA-BD67-2F4E-0C9C-1750082D4B6C}"/>
              </a:ext>
            </a:extLst>
          </p:cNvPr>
          <p:cNvSpPr txBox="1"/>
          <p:nvPr/>
        </p:nvSpPr>
        <p:spPr>
          <a:xfrm>
            <a:off x="6951049" y="5721730"/>
            <a:ext cx="512405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This shows that Variety Pack is a true trial vehicle geared towards additional of the brand</a:t>
            </a:r>
            <a:r>
              <a:rPr lang="en-GB" sz="2000" dirty="0"/>
              <a:t>.</a:t>
            </a:r>
            <a:br>
              <a:rPr lang="en-GB" sz="2000" dirty="0"/>
            </a:br>
            <a:r>
              <a:rPr lang="en-GB" sz="2000" b="1" dirty="0"/>
              <a:t>Yes, </a:t>
            </a:r>
            <a:r>
              <a:rPr lang="en-GB" sz="2000" dirty="0"/>
              <a:t>the production should be expanded.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E49D82-6B5B-2EF1-A554-30C2AA3CE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025" y="1186626"/>
            <a:ext cx="5210079" cy="2098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8F44EE-023E-1E34-10BF-41F05504E4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5025" y="3373682"/>
            <a:ext cx="5210079" cy="216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5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36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6C791-891A-B807-20F6-765A91F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85C3-C224-40DC-D0B1-749A474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277" y="46119"/>
            <a:ext cx="10928009" cy="476395"/>
          </a:xfrm>
        </p:spPr>
        <p:txBody>
          <a:bodyPr>
            <a:normAutofit/>
          </a:bodyPr>
          <a:lstStyle/>
          <a:p>
            <a:r>
              <a:rPr lang="en-GB" sz="2800" b="1" dirty="0"/>
              <a:t>Repeat Spend Advantage &amp; Seasonal Performance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EFC3607-0E7E-B0F0-BB25-AF37FBC9FF2E}"/>
              </a:ext>
            </a:extLst>
          </p:cNvPr>
          <p:cNvCxnSpPr>
            <a:cxnSpLocks/>
          </p:cNvCxnSpPr>
          <p:nvPr/>
        </p:nvCxnSpPr>
        <p:spPr>
          <a:xfrm>
            <a:off x="6441440" y="590378"/>
            <a:ext cx="0" cy="2367875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7D1883-0246-E3AE-6F39-90AE491E7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967" y="401693"/>
            <a:ext cx="5304071" cy="255656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GB" sz="1200" dirty="0"/>
          </a:p>
          <a:p>
            <a:pPr marL="0" indent="0">
              <a:buNone/>
            </a:pPr>
            <a:endParaRPr lang="en-GB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FBD32D-967F-7AF0-29FD-BC67B3C52470}"/>
              </a:ext>
            </a:extLst>
          </p:cNvPr>
          <p:cNvCxnSpPr>
            <a:cxnSpLocks/>
          </p:cNvCxnSpPr>
          <p:nvPr/>
        </p:nvCxnSpPr>
        <p:spPr>
          <a:xfrm>
            <a:off x="6441440" y="3567761"/>
            <a:ext cx="0" cy="3038192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E0CA05-944D-EF9F-F11C-7872E00B191D}"/>
              </a:ext>
            </a:extLst>
          </p:cNvPr>
          <p:cNvSpPr txBox="1"/>
          <p:nvPr/>
        </p:nvSpPr>
        <p:spPr>
          <a:xfrm>
            <a:off x="6441440" y="626129"/>
            <a:ext cx="52304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300" b="1" dirty="0"/>
              <a:t>Trend of Samuel Adams Variety Pack and Non-Variety Packs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772ACC-8F51-5900-BC47-A65BEF3F9C43}"/>
              </a:ext>
            </a:extLst>
          </p:cNvPr>
          <p:cNvSpPr txBox="1"/>
          <p:nvPr/>
        </p:nvSpPr>
        <p:spPr>
          <a:xfrm>
            <a:off x="6664327" y="1179458"/>
            <a:ext cx="500751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200" dirty="0"/>
              <a:t>The trend of Variety Pack and Non-Variety Pack shows relationships</a:t>
            </a:r>
          </a:p>
          <a:p>
            <a:pPr marL="0" indent="0">
              <a:buNone/>
            </a:pP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As Variety Pack increases, Non-Variety Pack Increases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As Variety Pack decreases, Non-Variety Pack decreases</a:t>
            </a:r>
          </a:p>
          <a:p>
            <a:endParaRPr lang="en-GB" sz="1200" dirty="0"/>
          </a:p>
          <a:p>
            <a:r>
              <a:rPr lang="en-GB" sz="1200" dirty="0"/>
              <a:t>This shows that Variety Pack is a true trial vehicle geared towards additional of the brand</a:t>
            </a:r>
            <a:r>
              <a:rPr lang="en-GB" sz="1400" dirty="0"/>
              <a:t>.</a:t>
            </a:r>
          </a:p>
          <a:p>
            <a:br>
              <a:rPr lang="en-GB" sz="1400" dirty="0"/>
            </a:br>
            <a:endParaRPr lang="en-GB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A27D27-3D25-72E2-F423-EAB3A9E7D087}"/>
              </a:ext>
            </a:extLst>
          </p:cNvPr>
          <p:cNvSpPr txBox="1"/>
          <p:nvPr/>
        </p:nvSpPr>
        <p:spPr>
          <a:xfrm>
            <a:off x="6489705" y="2679877"/>
            <a:ext cx="609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b="1" dirty="0"/>
              <a:t>Seasonal Sales Pattern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C0ACD0-D51F-6966-63C4-EFF560C2ACBF}"/>
              </a:ext>
            </a:extLst>
          </p:cNvPr>
          <p:cNvSpPr txBox="1"/>
          <p:nvPr/>
        </p:nvSpPr>
        <p:spPr>
          <a:xfrm>
            <a:off x="6664327" y="3416385"/>
            <a:ext cx="47846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Feb - Jul  (Low Demand )  </a:t>
            </a:r>
            <a:br>
              <a:rPr lang="en-GB" sz="1200" b="1" dirty="0"/>
            </a:br>
            <a:r>
              <a:rPr lang="en-GB" sz="1200" dirty="0"/>
              <a:t>July - Aug (Peak Demand)</a:t>
            </a:r>
            <a:br>
              <a:rPr lang="en-GB" sz="1200" dirty="0"/>
            </a:br>
            <a:r>
              <a:rPr lang="en-GB" sz="1200" dirty="0"/>
              <a:t>Sep - Oct ( Low Demand)</a:t>
            </a:r>
            <a:br>
              <a:rPr lang="en-GB" sz="1200" dirty="0"/>
            </a:br>
            <a:r>
              <a:rPr lang="en-GB" sz="1200" dirty="0"/>
              <a:t>Nov- Dec ( Demand Increase)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1EBEE-D835-A215-C2EA-7D51B67F9AF1}"/>
              </a:ext>
            </a:extLst>
          </p:cNvPr>
          <p:cNvSpPr txBox="1"/>
          <p:nvPr/>
        </p:nvSpPr>
        <p:spPr>
          <a:xfrm>
            <a:off x="6576967" y="4376439"/>
            <a:ext cx="539133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300" dirty="0"/>
              <a:t>During the drop- down season Sam Adam should market the brand in store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Drive trial and awareness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Influence purchase decisions at the point of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In-store visibility makes seasonal packs more attractive.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Showcase sharing potential</a:t>
            </a:r>
            <a:br>
              <a:rPr lang="en-GB" sz="1400" dirty="0"/>
            </a:br>
            <a:r>
              <a:rPr lang="en-GB" sz="130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5C182-E3DF-8747-AAB5-A8A5537EC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63" y="590378"/>
            <a:ext cx="5907590" cy="2819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1FFE0D-BE23-1CD5-5743-4D18CE2DA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94" y="3567761"/>
            <a:ext cx="5886659" cy="315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36000"/>
          </a:blip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1BC36-E72E-DADB-84A5-002D3ADD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6140-9E8E-5A0E-C38E-924ED630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116" y="113455"/>
            <a:ext cx="10928009" cy="723779"/>
          </a:xfrm>
        </p:spPr>
        <p:txBody>
          <a:bodyPr>
            <a:normAutofit/>
          </a:bodyPr>
          <a:lstStyle/>
          <a:p>
            <a:r>
              <a:rPr lang="en-GB" sz="2800" b="1" dirty="0"/>
              <a:t>Variety Pack Consumer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D90492-8A11-ACE3-B443-660B4D1D8ECB}"/>
              </a:ext>
            </a:extLst>
          </p:cNvPr>
          <p:cNvCxnSpPr>
            <a:cxnSpLocks/>
          </p:cNvCxnSpPr>
          <p:nvPr/>
        </p:nvCxnSpPr>
        <p:spPr>
          <a:xfrm>
            <a:off x="6597130" y="113455"/>
            <a:ext cx="0" cy="254265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F792329-700F-FAF7-7A6C-698CF59A9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26974" y="3943786"/>
            <a:ext cx="2978529" cy="27121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868EFD-513C-8B54-DAFA-5D63668B6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73" y="3943786"/>
            <a:ext cx="3147713" cy="2712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F159E-864A-5CAD-813B-41D72F7C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496" y="763398"/>
            <a:ext cx="3214418" cy="30826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76373E-0FCA-6B7E-8C1E-63357E2CB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6974" y="763398"/>
            <a:ext cx="2908728" cy="31803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3A7C93-EB00-A60F-A18D-E8FCB3880EB5}"/>
              </a:ext>
            </a:extLst>
          </p:cNvPr>
          <p:cNvSpPr txBox="1"/>
          <p:nvPr/>
        </p:nvSpPr>
        <p:spPr>
          <a:xfrm>
            <a:off x="6758558" y="113455"/>
            <a:ext cx="51911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alibri" panose="020F0502020204030204" pitchFamily="34" charset="0"/>
                <a:cs typeface="Times New Roman" panose="02020603050405020304" pitchFamily="18" charset="0"/>
              </a:rPr>
              <a:t>Recipient of Purchase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People mainly buy variety packs for others hosting, gifting, sharing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200" dirty="0"/>
          </a:p>
          <a:p>
            <a:r>
              <a:rPr lang="en-GB" sz="1200" b="1" dirty="0"/>
              <a:t>Choice Reason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Choice </a:t>
            </a:r>
            <a:r>
              <a:rPr lang="en-GB" sz="1200" dirty="0" err="1"/>
              <a:t>behavior</a:t>
            </a:r>
            <a:r>
              <a:rPr lang="en-GB" sz="1200" dirty="0"/>
              <a:t> shows familiarity and seasonal variety drive purchase more than discounts or referrals</a:t>
            </a:r>
            <a:endParaRPr lang="en-GB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Pack Sharing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Variety packs are group-oriented products</a:t>
            </a:r>
            <a:r>
              <a:rPr lang="en-GB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GB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Consumers rarely drink them alone.</a:t>
            </a:r>
          </a:p>
          <a:p>
            <a:endParaRPr lang="en-GB" sz="1200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200" b="1" dirty="0"/>
              <a:t>Buying Occasion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Everyday social gatherings are the top driver.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Variety packs are not only for big events, they are an everyday social choice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F5EC2E-E5EE-97AA-BE69-BFD9F0080B62}"/>
              </a:ext>
            </a:extLst>
          </p:cNvPr>
          <p:cNvSpPr txBox="1"/>
          <p:nvPr/>
        </p:nvSpPr>
        <p:spPr>
          <a:xfrm>
            <a:off x="6828359" y="2839481"/>
            <a:ext cx="462518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b="1" dirty="0"/>
              <a:t> </a:t>
            </a:r>
            <a:r>
              <a:rPr lang="en-GB" sz="1100" b="1" dirty="0"/>
              <a:t>How to Merchandise In-Store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Place packs in high-traffic zones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Use </a:t>
            </a:r>
            <a:r>
              <a:rPr lang="en-GB" sz="1100" b="1" dirty="0"/>
              <a:t>“</a:t>
            </a:r>
            <a:r>
              <a:rPr lang="en-GB" sz="1100" dirty="0"/>
              <a:t>Made for Sharing” group-focused displays.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Highlight Seasonal Variety Packs with special signage.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Position near party essentials to cue hosting occasions.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Ensure cold availability for immediate group consumption.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100" dirty="0"/>
          </a:p>
          <a:p>
            <a:pPr>
              <a:buNone/>
            </a:pPr>
            <a:r>
              <a:rPr lang="en-GB" sz="1100" b="1" dirty="0"/>
              <a:t> When to Market Them In-Store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Peak push: May–August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Steady support: January–July.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Seasonal spikes: Promote each Seasonal Variety Pack at launch.</a:t>
            </a:r>
          </a:p>
          <a:p>
            <a:pPr>
              <a:buNone/>
            </a:pPr>
            <a:endParaRPr lang="en-GB" sz="1100" dirty="0"/>
          </a:p>
          <a:p>
            <a:pPr>
              <a:buNone/>
            </a:pPr>
            <a:r>
              <a:rPr lang="en-GB" sz="1100" b="1" dirty="0"/>
              <a:t>What Should the Marketing Message Be?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Sharing: “Perfect for Hosting. A </a:t>
            </a:r>
            <a:r>
              <a:rPr lang="en-GB" sz="1100" dirty="0" err="1"/>
              <a:t>Flavor</a:t>
            </a:r>
            <a:r>
              <a:rPr lang="en-GB" sz="1100" dirty="0"/>
              <a:t> for Everyone.”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Everyday social: “Your Everyday Social Pack.”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Seasonal: “Limited Seasonal Flavors, Try Them Now.”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Trial: “Explore Multiple Flavors in One Pack.”</a:t>
            </a:r>
          </a:p>
          <a:p>
            <a:endParaRPr lang="en-GB" sz="1100" b="1" dirty="0"/>
          </a:p>
          <a:p>
            <a:r>
              <a:rPr lang="en-GB" sz="1100" b="1" dirty="0"/>
              <a:t> Next Steps &amp; Future Research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Expand distribution in social-driven channels.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A/B Test to identify the best performing variant of variety packs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Analyse why the higher gathering has lower percentage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0E3067-F6F9-2687-90AB-6AAB30FDAE4D}"/>
              </a:ext>
            </a:extLst>
          </p:cNvPr>
          <p:cNvCxnSpPr>
            <a:cxnSpLocks/>
          </p:cNvCxnSpPr>
          <p:nvPr/>
        </p:nvCxnSpPr>
        <p:spPr>
          <a:xfrm>
            <a:off x="6597130" y="2813112"/>
            <a:ext cx="0" cy="3623974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F10A0A-990B-E710-53F4-23C080515835}"/>
              </a:ext>
            </a:extLst>
          </p:cNvPr>
          <p:cNvCxnSpPr>
            <a:cxnSpLocks/>
          </p:cNvCxnSpPr>
          <p:nvPr/>
        </p:nvCxnSpPr>
        <p:spPr>
          <a:xfrm>
            <a:off x="6705987" y="2755055"/>
            <a:ext cx="5153292" cy="265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25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1483</TotalTime>
  <Words>438</Words>
  <Application>Microsoft Office PowerPoint</Application>
  <PresentationFormat>Widescreen</PresentationFormat>
  <Paragraphs>62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Market Performance &amp; Trial Behavior (Sam Adams vs Competitors)</vt:lpstr>
      <vt:lpstr>Repeat Spend Advantage &amp; Seasonal Performance</vt:lpstr>
      <vt:lpstr>Variety Pack Consumer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OYETAYO OYEBISI</dc:creator>
  <cp:lastModifiedBy>OYETAYO OYEBISI</cp:lastModifiedBy>
  <cp:revision>25</cp:revision>
  <dcterms:created xsi:type="dcterms:W3CDTF">2025-11-23T15:44:29Z</dcterms:created>
  <dcterms:modified xsi:type="dcterms:W3CDTF">2025-11-25T22:42:17Z</dcterms:modified>
</cp:coreProperties>
</file>